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119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035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2D6"/>
                </a:solidFill>
              </a:rPr>
              <a:t>Slide 1 of 18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2860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B8C2D6"/>
                </a:solidFill>
              </a:rPr>
              <a:t>AIR UNIVERSITY, ISLAMABAD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8C2D6"/>
                </a:solidFill>
              </a:rPr>
              <a:t>National Cyber Security Academy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ENCRYPTION BREAKS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103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3A4"/>
                </a:solidFill>
              </a:rPr>
              <a:t>The Quantum Threat to Cybersecurity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C2D6"/>
                </a:solidFill>
              </a:rPr>
              <a:t>What happens when the mathematics protecting the internet becomes vulnerable to a new kind of computer?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84048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Presented by: </a:t>
            </a:r>
            <a:r>
              <a:rPr lang="en-US" sz="1500" dirty="0">
                <a:solidFill>
                  <a:srgbClr val="FFFFFF"/>
                </a:solidFill>
              </a:rPr>
              <a:t>Athar Imran </a:t>
            </a:r>
            <a:r>
              <a:rPr lang="en-US" sz="1500" b="1" dirty="0">
                <a:solidFill>
                  <a:srgbClr val="FFFFFF"/>
                </a:solidFill>
              </a:rPr>
              <a:t>· ID </a:t>
            </a:r>
            <a:r>
              <a:rPr lang="en-US" sz="1500" dirty="0">
                <a:solidFill>
                  <a:srgbClr val="FFFFFF"/>
                </a:solidFill>
              </a:rPr>
              <a:t>2604277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CS 181L · Lab 04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2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A2238"/>
                </a:solidFill>
              </a:rPr>
              <a:t>The quantum threat to public-key cryptography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A2238"/>
                </a:solidFill>
              </a:rPr>
              <a:t>Harvest Now, Decrypt Later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A2238"/>
                </a:solidFill>
              </a:rPr>
              <a:t>What is vulnerable and what is resilient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A2238"/>
                </a:solidFill>
              </a:rPr>
              <a:t>Post-Quantum Cryptography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A2238"/>
                </a:solidFill>
              </a:rPr>
              <a:t>Migration challenges and embedded systems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A2238"/>
                </a:solidFill>
              </a:rPr>
              <a:t>Preparing for the future: crypto-agility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3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Invisible Foundation of the Internet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We rely on cryptography for banking, messaging, payments, websites, cloud storage and digital signatures.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103120"/>
            <a:ext cx="80467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0080" y="2148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Built on hard math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5603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RSA - integer factorization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ECC - elliptic curves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AES - symmetric encryption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SHA-2 / SHA-3 - hashing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Some mathematical problems are computationally impractical to solve. But what if that changes?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4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 the Quantum Computer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Bits are 0 or 1. Qubits can exist in superposition.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Superposition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Entanglement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Quantum interference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Not just "faster computers" — fundamentally different machines, and that matters for security.-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5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Cybersecurity Problem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In 1994, Peter Shor showed a quantum algorithm that efficiently solves integer factorization and discrete logarithms.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These underpin RSA and elliptic-curve cryptography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A sufficiently capable quantum computer could make them tractable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Not "cracking passwords faster" — undermining the foundations of public-key cryptography.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6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Attack That Can Happen Today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2026: an attacker intercepts encrypted traffic they cannot read. So they store it. Years later, a powerful quantum computer arrives.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Harvest Now, Decrypt Later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data may be stolen today; the decryption capability may arrive years later.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7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Than an IT Problem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Data that must stay confidential for decades: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Government, military and diplomatic communications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Medical and financial records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Intellectual property and private research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Critical infrastructure data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attack can begin before the technology needed to complete it exists.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8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Actually Becomes Vulnerable?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11887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High risk: public-key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6459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RSA, Diffie–Hellman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ECC, ECDSA, ECDH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Key exchange, authentication, signatures, certificates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More resilient: symmetric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16459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AES, ChaCha20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Grover's algorithm gives only a quadratic speedup — not the collapse Shor causes for RSA/ECC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9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Solution: Post-Quantum Cryptography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PQC algorithms run on conventional computers while resisting attacks from both classical and quantum computers.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Replace vulnerable mathematics before large-scale quantum computers make old systems unsafe.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10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Generation of Cryptography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118872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234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Lattice-based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6459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</a:rPr>
              <a:t>Hard lattice problems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606040" y="118872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697480" y="1234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Hash-based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697480" y="16459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</a:rPr>
              <a:t>Security of hash functions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63440" y="118872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754880" y="1234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Code-based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754880" y="16459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</a:rPr>
              <a:t>Error-correcting codes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720840" y="1188720"/>
            <a:ext cx="1874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12280" y="123444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Multivariate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812280" y="164592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238"/>
                </a:solidFill>
              </a:rPr>
              <a:t>Multivariate equation systems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RSA/ECC → quantum-resistant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11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 Challenge: Migration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Replacing an algorithm sounds simple. It isn't.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Thousands of apps, millions of certificates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Legacy systems, VPNs, cloud, mobile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Embedded, IoT and industrial devices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Where is cryptography used? Which algorithms? What can't be upgraded? How long must data stay secret?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12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Unexpected Battlefield: Embedded &amp; IoT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Smart meters, cars, medical devices, satellites, industrial controllers, smart locks, military hardware.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Deployed for 10, 15, even 20+ years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Limited memory and processing power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Fixed firmware, hard to update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Can we upgrade the cryptography without replacing the device?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13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Bigger Picture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Quantum computing does not mean everything encrypted today instantly becomes useless. The main concern is widely deployed public-key cryptography, and the transition will take years.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Crypto-agility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solidFill>
            <a:srgbClr val="1A2238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ability to replace cryptographic algorithms without redesigning the system.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14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Possible Future</a:t>
            </a:r>
            <a:endParaRPr lang="en-US" sz="2400" dirty="0"/>
          </a:p>
        </p:txBody>
      </p:sp>
      <p:sp>
        <p:nvSpPr>
          <p:cNvPr id="8" name="Shape 4"/>
          <p:cNvSpPr/>
          <p:nvPr/>
        </p:nvSpPr>
        <p:spPr>
          <a:xfrm>
            <a:off x="548640" y="11887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Organization A: waits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16459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Thousands of vulnerable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Legacy and unpatchable devices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Unknown crypto dependencies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Migration is extremely expensive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39319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0" y="1234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3A4"/>
                </a:solidFill>
              </a:rPr>
              <a:t>Organization B: prepares early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164592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Inventories cryptography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Implements crypto-agility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Tests PQC algorithms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Protects long-lived data, plans migration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15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to Ask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Not "When will quantum break RSA?" but: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must remain secure until then?</a:t>
            </a:r>
            <a:endParaRPr lang="en-US" sz="2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01752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Data lifetime · System lifetime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A2238"/>
                </a:solidFill>
              </a:rPr>
              <a:t>Cryptographic lifetime · Migration time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16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A2238"/>
                </a:solidFill>
              </a:rPr>
              <a:t>Sensitive data can be collected today and targeted later. The answer is preparation: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031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3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→ Inventory → Test → Migrate → Be Crypto-Agile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</a:rPr>
              <a:t>Slide 17 of 18</a:t>
            </a:r>
            <a:endParaRPr lang="en-US" sz="1000" dirty="0"/>
          </a:p>
        </p:txBody>
      </p:sp>
      <p:sp>
        <p:nvSpPr>
          <p:cNvPr id="6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3A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48640" y="228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18872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P. Shor (1994/1997), Polynomial-Time Algorithms for Prime Factorization and Discrete Logarithms on a Quantum Computer — https://arxiv.org/abs/quant-ph/9508027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L. Grover (1996), A Fast Quantum Mechanical Algorithm for Database Search — https://arxiv.org/abs/quant-ph/9605043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NIST, Post-Quantum Cryptography project — https://csrc.nist.gov/projects/post-quantum-cryptography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</a:rPr>
              <a:t>NIST, FIPS 203: Module-Lattice-Based Key-Encapsulation Mechanism Standard — https://csrc.nist.gov/pubs/fips/203/final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09728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6"/>
            </a:solidFill>
            <a:prstDash val="solid"/>
          </a:ln>
        </p:spPr>
      </p:sp>
      <p:pic>
        <p:nvPicPr>
          <p:cNvPr id="3" name="Image 0" descr="/mnt/user-data/uploads/533-5335639_facebook-updates-air-university-islamaba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"/>
            <a:ext cx="804672" cy="640080"/>
          </a:xfrm>
          <a:prstGeom prst="rect">
            <a:avLst/>
          </a:prstGeom>
        </p:spPr>
      </p:pic>
      <p:pic>
        <p:nvPicPr>
          <p:cNvPr id="4" name="Image 1" descr="/mnt/user-data/uploads/171980820930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"/>
            <a:ext cx="731520" cy="7315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94944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2D6"/>
                </a:solidFill>
              </a:rPr>
              <a:t>Slide 18 of 18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B8794"/>
                </a:solidFill>
              </a:rPr>
              <a:t>THE QUESTION IS NOT: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2D6"/>
                </a:solidFill>
              </a:rPr>
              <a:t>"Will quantum computers break today's cryptography?"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3A4"/>
                </a:solidFill>
              </a:rPr>
              <a:t>THE REAL QUESTION IS: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"Will we migrate before they can?"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B3A4"/>
                </a:solidFill>
              </a:rPr>
              <a:t>Thank you — 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um">
  <a:themeElements>
    <a:clrScheme name="Quantum">
      <a:dk1>
        <a:srgbClr val="1A2238"/>
      </a:dk1>
      <a:lt1>
        <a:srgbClr val="FFFFFF"/>
      </a:lt1>
      <a:dk2>
        <a:srgbClr val="0B1020"/>
      </a:dk2>
      <a:lt2>
        <a:srgbClr val="EEF2F7"/>
      </a:lt2>
      <a:accent1>
        <a:srgbClr val="00B3A4"/>
      </a:accent1>
      <a:accent2>
        <a:srgbClr val="F2994A"/>
      </a:accent2>
      <a:accent3>
        <a:srgbClr val="4C6FFF"/>
      </a:accent3>
      <a:accent4>
        <a:srgbClr val="7B8794"/>
      </a:accent4>
      <a:accent5>
        <a:srgbClr val="E5484D"/>
      </a:accent5>
      <a:accent6>
        <a:srgbClr val="2E7D32"/>
      </a:accent6>
      <a:hlink>
        <a:srgbClr val="4C6FFF"/>
      </a:hlink>
      <a:folHlink>
        <a:srgbClr val="7B8794"/>
      </a:folHlink>
    </a:clrScheme>
    <a:fontScheme name="Quantum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904</Words>
  <Application>Microsoft Office PowerPoint</Application>
  <PresentationFormat>On-screen Show (16:9)</PresentationFormat>
  <Paragraphs>146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Georgia</vt:lpstr>
      <vt:lpstr>Quantum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Athar Imran , ..</cp:lastModifiedBy>
  <cp:revision>2</cp:revision>
  <dcterms:created xsi:type="dcterms:W3CDTF">2026-10-07T05:43:20Z</dcterms:created>
  <dcterms:modified xsi:type="dcterms:W3CDTF">2026-10-07T05:50:43Z</dcterms:modified>
</cp:coreProperties>
</file>